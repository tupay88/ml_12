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8" r:id="rId1"/>
    <p:sldMasterId id="2147483748" r:id="rId2"/>
  </p:sldMasterIdLst>
  <p:notesMasterIdLst>
    <p:notesMasterId r:id="rId13"/>
  </p:notesMasterIdLst>
  <p:handoutMasterIdLst>
    <p:handoutMasterId r:id="rId14"/>
  </p:handoutMasterIdLst>
  <p:sldIdLst>
    <p:sldId id="361" r:id="rId3"/>
    <p:sldId id="402" r:id="rId4"/>
    <p:sldId id="529" r:id="rId5"/>
    <p:sldId id="536" r:id="rId6"/>
    <p:sldId id="532" r:id="rId7"/>
    <p:sldId id="535" r:id="rId8"/>
    <p:sldId id="537" r:id="rId9"/>
    <p:sldId id="538" r:id="rId10"/>
    <p:sldId id="533" r:id="rId11"/>
    <p:sldId id="527" r:id="rId12"/>
  </p:sldIdLst>
  <p:sldSz cx="12192000" cy="6858000"/>
  <p:notesSz cx="6858000" cy="9236075"/>
  <p:embeddedFontLst>
    <p:embeddedFont>
      <p:font typeface="Franklin Gothic Book" panose="020B0503020102020204" pitchFamily="34" charset="0"/>
      <p:regular r:id="rId15"/>
      <p:italic r:id="rId16"/>
    </p:embeddedFont>
    <p:embeddedFont>
      <p:font typeface="Franklin Gothic Medium Cond" panose="020B0606030402020204" pitchFamily="34" charset="0"/>
      <p:regular r:id="rId17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805" userDrawn="1">
          <p15:clr>
            <a:srgbClr val="A4A3A4"/>
          </p15:clr>
        </p15:guide>
        <p15:guide id="3" orient="horz" pos="1067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189" userDrawn="1">
          <p15:clr>
            <a:srgbClr val="A4A3A4"/>
          </p15:clr>
        </p15:guide>
        <p15:guide id="3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, Katie (SEA-CRE)" initials="JK(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7400"/>
    <a:srgbClr val="F89F1F"/>
    <a:srgbClr val="F8901F"/>
    <a:srgbClr val="C66919"/>
    <a:srgbClr val="FFC600"/>
    <a:srgbClr val="FF8604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844" y="108"/>
      </p:cViewPr>
      <p:guideLst>
        <p:guide orient="horz" pos="2160"/>
        <p:guide orient="horz" pos="3805"/>
        <p:guide orient="horz" pos="106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54" y="72"/>
      </p:cViewPr>
      <p:guideLst>
        <p:guide orient="horz" pos="2909"/>
        <p:guide pos="2189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20E8A7-10C0-4A3F-8A5F-C23C99458661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4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3BDA8F0-F90F-480B-81BF-DD12E634F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23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981E3B-E2FD-4482-B46D-D6CD1BE21990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0838" y="692150"/>
            <a:ext cx="6157912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58" tIns="46229" rIns="92458" bIns="4622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87136"/>
            <a:ext cx="5486400" cy="4156234"/>
          </a:xfrm>
          <a:prstGeom prst="rect">
            <a:avLst/>
          </a:prstGeom>
        </p:spPr>
        <p:txBody>
          <a:bodyPr vert="horz" lIns="92458" tIns="46229" rIns="92458" bIns="4622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772668"/>
            <a:ext cx="2971800" cy="461804"/>
          </a:xfrm>
          <a:prstGeom prst="rect">
            <a:avLst/>
          </a:prstGeom>
        </p:spPr>
        <p:txBody>
          <a:bodyPr vert="horz" lIns="92458" tIns="46229" rIns="92458" bIns="4622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02FC391-0479-4A70-8AC8-8F764AAA7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934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2FC391-0479-4A70-8AC8-8F764AAA773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5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B36D-8E8D-2543-92E3-2EF91E646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86" y="2204864"/>
            <a:ext cx="10517030" cy="368855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b="1">
                <a:latin typeface="Franklin Gothic Book" panose="020B0503020102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39543DF4-BF30-C14A-B01B-CB534EADF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86" y="1052736"/>
            <a:ext cx="10517030" cy="1003622"/>
          </a:xfrm>
          <a:prstGeom prst="rect">
            <a:avLst/>
          </a:prstGeom>
        </p:spPr>
        <p:txBody>
          <a:bodyPr/>
          <a:lstStyle>
            <a:lvl1pPr algn="l">
              <a:defRPr sz="4400" b="1" i="0">
                <a:solidFill>
                  <a:schemeClr val="bg2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247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No Page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07DBE2-E03C-EA4A-84FC-B6197DCC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86" y="1484784"/>
            <a:ext cx="10517030" cy="1011426"/>
          </a:xfrm>
          <a:prstGeom prst="rect">
            <a:avLst/>
          </a:prstGeom>
        </p:spPr>
        <p:txBody>
          <a:bodyPr/>
          <a:lstStyle>
            <a:lvl1pPr algn="l">
              <a:defRPr sz="6000" b="1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778467-A2C7-7F4D-BF67-263E1939B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7486" y="2564904"/>
            <a:ext cx="10517030" cy="2952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5300"/>
              </a:lnSpc>
              <a:spcBef>
                <a:spcPts val="0"/>
              </a:spcBef>
              <a:buFontTx/>
              <a:buNone/>
              <a:defRPr sz="50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2pPr>
            <a:lvl3pPr marL="9144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3pPr>
            <a:lvl4pPr marL="13716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4pPr>
            <a:lvl5pPr marL="1828800" indent="0">
              <a:buFontTx/>
              <a:buNone/>
              <a:defRPr sz="5000" b="1" i="0">
                <a:solidFill>
                  <a:schemeClr val="bg2"/>
                </a:solidFill>
                <a:latin typeface="Franklin Gothic Medium Cond" panose="020B06060304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51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nk_Ad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40A0D-ECEB-EB4B-B5DE-6EBA652E64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98808" y="1557338"/>
            <a:ext cx="8865897" cy="40322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9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46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105151" y="979059"/>
            <a:ext cx="5981700" cy="583047"/>
          </a:xfrm>
        </p:spPr>
        <p:txBody>
          <a:bodyPr/>
          <a:lstStyle>
            <a:lvl1pPr marL="0" indent="0" algn="ctr">
              <a:buNone/>
              <a:defRPr sz="3200" b="0"/>
            </a:lvl1pPr>
          </a:lstStyle>
          <a:p>
            <a:pPr algn="ctr"/>
            <a:r>
              <a:rPr lang="en-US" sz="3200" b="1" dirty="0">
                <a:latin typeface="Franklin Gothic Book" panose="020B0503020102020204" pitchFamily="34" charset="0"/>
              </a:rPr>
              <a:t>&lt;Session&gt;-&lt;Paper#&gt;</a:t>
            </a:r>
            <a:endParaRPr lang="en-US" dirty="0"/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768474"/>
            <a:ext cx="10363200" cy="1470024"/>
          </a:xfrm>
        </p:spPr>
        <p:txBody>
          <a:bodyPr>
            <a:normAutofit/>
          </a:bodyPr>
          <a:lstStyle>
            <a:lvl1pPr marL="0" indent="0" algn="ctr">
              <a:buNone/>
              <a:defRPr sz="4400" b="1"/>
            </a:lvl1pPr>
            <a:lvl2pPr marL="347472" indent="0">
              <a:buNone/>
              <a:defRPr/>
            </a:lvl2pPr>
          </a:lstStyle>
          <a:p>
            <a:pPr lvl="0"/>
            <a:r>
              <a:rPr lang="en-US" dirty="0"/>
              <a:t>&lt;Title of Presentation&gt;</a:t>
            </a:r>
          </a:p>
          <a:p>
            <a:pPr lvl="2"/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5"/>
            <a:ext cx="8534400" cy="1348409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&lt;Author Names&gt;</a:t>
            </a:r>
          </a:p>
        </p:txBody>
      </p:sp>
      <p:sp>
        <p:nvSpPr>
          <p:cNvPr id="7" name="Content Placeholder 29"/>
          <p:cNvSpPr>
            <a:spLocks noGrp="1"/>
          </p:cNvSpPr>
          <p:nvPr>
            <p:ph sz="quarter" idx="15" hasCustomPrompt="1"/>
          </p:nvPr>
        </p:nvSpPr>
        <p:spPr>
          <a:xfrm>
            <a:off x="1828800" y="4560409"/>
            <a:ext cx="8534400" cy="908366"/>
          </a:xfrm>
        </p:spPr>
        <p:txBody>
          <a:bodyPr>
            <a:normAutofit/>
          </a:bodyPr>
          <a:lstStyle>
            <a:lvl1pPr marL="0" indent="0" algn="ctr">
              <a:buNone/>
              <a:defRPr sz="2600" b="1"/>
            </a:lvl1pPr>
          </a:lstStyle>
          <a:p>
            <a:pPr lvl="0"/>
            <a:r>
              <a:rPr lang="en-US" dirty="0"/>
              <a:t>&lt;Affiliations&gt;</a:t>
            </a:r>
          </a:p>
        </p:txBody>
      </p:sp>
    </p:spTree>
    <p:extLst>
      <p:ext uri="{BB962C8B-B14F-4D97-AF65-F5344CB8AC3E}">
        <p14:creationId xmlns:p14="http://schemas.microsoft.com/office/powerpoint/2010/main" val="325791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4D9EB62-4DE2-08D2-B2AB-A74B2CE74CA6}"/>
              </a:ext>
            </a:extLst>
          </p:cNvPr>
          <p:cNvCxnSpPr>
            <a:cxnSpLocks/>
          </p:cNvCxnSpPr>
          <p:nvPr/>
        </p:nvCxnSpPr>
        <p:spPr>
          <a:xfrm>
            <a:off x="719137" y="841932"/>
            <a:ext cx="1075372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9C91DD-0A0F-61CA-A2E7-671202A6BAEB}"/>
              </a:ext>
            </a:extLst>
          </p:cNvPr>
          <p:cNvCxnSpPr/>
          <p:nvPr/>
        </p:nvCxnSpPr>
        <p:spPr>
          <a:xfrm>
            <a:off x="757155" y="806306"/>
            <a:ext cx="540067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8200" y="-46553"/>
            <a:ext cx="10515600" cy="729625"/>
          </a:xfrm>
        </p:spPr>
        <p:txBody>
          <a:bodyPr/>
          <a:lstStyle>
            <a:lvl1pPr>
              <a:defRPr sz="4400" b="1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1236133"/>
            <a:ext cx="10515600" cy="5007913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Wingdings" panose="05000000000000000000" pitchFamily="2" charset="2"/>
              <a:buChar char="q"/>
              <a:defRPr sz="3200" b="1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00000"/>
              </a:lnSpc>
              <a:buFont typeface="Wingdings" panose="05000000000000000000" pitchFamily="2" charset="2"/>
              <a:buChar char="Ø"/>
              <a:defRPr sz="2400" b="1">
                <a:latin typeface="Franklin Gothic Book" panose="020B0503020102020204" pitchFamily="34" charset="0"/>
              </a:defRPr>
            </a:lvl2pPr>
            <a:lvl3pPr marL="1085850" indent="-171450">
              <a:lnSpc>
                <a:spcPct val="100000"/>
              </a:lnSpc>
              <a:buFont typeface="Courier New" panose="02070309020205020404" pitchFamily="49" charset="0"/>
              <a:buChar char="o"/>
              <a:defRPr sz="2000" b="1">
                <a:latin typeface="Franklin Gothic Book" panose="020B0503020102020204" pitchFamily="34" charset="0"/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Subhead 1</a:t>
            </a:r>
          </a:p>
          <a:p>
            <a:pPr lvl="2"/>
            <a:r>
              <a:rPr lang="en-US" dirty="0"/>
              <a:t>Subhead 2</a:t>
            </a:r>
          </a:p>
          <a:p>
            <a:pPr lvl="2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6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0CB6-065A-5C50-2F7F-1FB383E5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5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3" name="Picture 2" descr="Isfahan University of Technology - Wikipedia">
            <a:extLst>
              <a:ext uri="{FF2B5EF4-FFF2-40B4-BE49-F238E27FC236}">
                <a16:creationId xmlns:a16="http://schemas.microsoft.com/office/drawing/2014/main" id="{FC297527-EAF9-528B-4204-7CF1E446D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350" y="90398"/>
            <a:ext cx="641359" cy="603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78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232D-9EFA-C002-10C6-91BCB3D54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0E00A-DF9A-C3C6-AF97-283CBE178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2B0E2-E9CF-53F0-A3C4-706A5DB4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30DA7-A05B-489A-67A2-DAF34AE1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49082-66AA-A8AB-B4B7-7F0EC0D6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752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B76C-3CD4-23A9-AF26-169826FF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53CC-F67D-020F-2093-5EAF5DDC2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3674-67A7-3474-9B36-A38A746E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7BCE5-F292-5DBE-177E-D6B2523B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D8223-3808-A92F-D20B-9164087A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42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B778-2103-7D79-AA1F-97610003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21C7F-74F1-1243-EE7B-9577E0C97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F9CF-E6F8-E9F3-FC88-890EDF78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E64F8-9F47-2623-CFAB-51FCF332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DD31-6213-62D4-01C3-DCB62339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561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5443-EF83-1EC7-AD5A-B7B3218D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0707-552D-5FB1-0936-FAB98CE36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198BA-466A-F732-376F-4F0895E9F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7B678-9E83-3B63-5B33-8219E139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2D770-E21E-AE9F-E4AD-B7E6F976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13EBC-BB4F-1EB5-BBA2-C4B0382F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7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B5EE-AB25-F9AE-BDA4-3C6D6C8A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9E673-AD60-3287-FA7C-FA34E16E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73163-1063-F637-0501-DF6FA68ED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C8607-FFEF-5F06-43DE-F3B2ED8F9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9EA5B-0F25-29C8-B337-C2CC4DE91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F85BD-B74C-DE98-D46F-5FA7BBD8A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6CFAB-DBB4-8BD5-5902-2BF7E552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84E86-4A8E-0EE0-FEA5-63B5B94E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633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3F45-65DF-D18D-BAE4-FD4D901D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3E651-5CAF-E2C1-E760-12281C30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93970-5ACC-A2CD-527B-5D0B8F34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27E1F-E3A6-C01D-9ABD-2E0F8B56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3390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A4ABE-862B-8339-DAD1-09C19286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45147A-DE6A-4579-D9C3-A04AC61E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94811-0A8B-6C2E-CEB2-86370D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700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70C0-65C0-CF82-E45B-ED4F0560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5C2F3-0781-2B44-B597-34CE5A318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51D54-8E8D-1663-8FB9-B908E09C9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8B054-801D-6934-0E72-4778FBC5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E2635-2686-E10A-C659-A8BA902E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BA4FC-48AE-1BF0-7B64-C8FAD6F9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137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B4935-9256-0471-6AD7-0403966D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DEF93-12F4-3035-A8D9-19103F2A3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E91C1-ADAA-9E2B-135D-EDD89F3D1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5F2FE-EEFC-ACB5-EBCE-7D006A9A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C3101-7C9A-29CB-762D-B2645998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9CA43-6865-97B7-4302-3B5795B4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3326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9F98-A276-9C69-1D66-A6BC66D0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D2546-3B1B-73B3-3DD4-85EF47D40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A75F-24A8-718F-80ED-E3AC700D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A5697-12B2-9C52-0CFB-552E3E52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32C1-340A-257B-39E8-F19160A0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9202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42E33-5D96-31A9-8A2E-5F9CB7F69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4A100-32BF-435B-8FAC-65C7F9F46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30025-8789-8A01-C472-59C38ABA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F9E77-931E-77F1-7F78-78D9A38A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9111-0CFD-41F6-1C3F-7CAE00C6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05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21163A-0771-4544-BA97-A26FBFD924F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420200"/>
            <a:ext cx="12195464" cy="468561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82BDF71A-DDC0-7E46-9B6E-A42D109237D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4870588" y="3789040"/>
            <a:ext cx="3756713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99908-0107-4575-AB40-26E488B68014}"/>
              </a:ext>
            </a:extLst>
          </p:cNvPr>
          <p:cNvSpPr txBox="1"/>
          <p:nvPr userDrawn="1"/>
        </p:nvSpPr>
        <p:spPr>
          <a:xfrm>
            <a:off x="11295745" y="6449760"/>
            <a:ext cx="12254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A43C57B-F819-4970-A618-112200EFDF34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" charset="0"/>
                <a:cs typeface="Arial" charset="0"/>
              </a:rPr>
              <a:t>‹#›</a:t>
            </a:fld>
            <a:endParaRPr lang="en-US" sz="2200" b="0" i="0" dirty="0">
              <a:solidFill>
                <a:schemeClr val="bg1"/>
              </a:solidFill>
              <a:latin typeface="+mn-lt"/>
              <a:ea typeface="Arial" charset="0"/>
              <a:cs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A11D6-1227-4FB3-8F14-6FD9358C570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0891" y="0"/>
            <a:ext cx="845593" cy="842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C67153-3961-F908-12AE-DF510BF0EBE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295745" y="14469"/>
            <a:ext cx="893664" cy="82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3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6" r:id="rId6"/>
    <p:sldLayoutId id="2147483747" r:id="rId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3E47CB-A710-B262-A139-02552438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C4B46-04C4-2337-1FA1-7AA586329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52494-16AF-B6D6-8FF2-A688E4DE5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3D600-03D3-4121-A573-51D33685B602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98E12-FA5F-176E-0DD5-ABC372C57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F9EA5-0920-859C-E8DF-05984B757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0BD5D-A287-40AD-BA17-88F068EC9A1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3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-27709" y="1516098"/>
            <a:ext cx="11934702" cy="14655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0" dirty="0"/>
              <a:t>Predictive Incident Classification for the TTC Streetcar Operations</a:t>
            </a:r>
            <a:br>
              <a:rPr lang="en-US" sz="2400" dirty="0"/>
            </a:br>
            <a:r>
              <a:rPr lang="en-US" sz="3200" b="0" dirty="0"/>
              <a:t>From Reactive Response to Proactive Management</a:t>
            </a:r>
            <a:endParaRPr lang="en-US" sz="1800" dirty="0">
              <a:latin typeface="Franklin Gothic Book" panose="020B0503020102020204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subTitle" idx="1"/>
          </p:nvPr>
        </p:nvSpPr>
        <p:spPr>
          <a:xfrm>
            <a:off x="1188034" y="3632604"/>
            <a:ext cx="9169393" cy="487401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00"/>
              </a:spcBef>
            </a:pPr>
            <a:r>
              <a:rPr lang="en-US" sz="8000" dirty="0"/>
              <a:t>Member list and roles</a:t>
            </a:r>
          </a:p>
          <a:p>
            <a:pPr>
              <a:spcBef>
                <a:spcPts val="600"/>
              </a:spcBef>
            </a:pPr>
            <a:endParaRPr lang="nb-NO" sz="9600" dirty="0"/>
          </a:p>
          <a:p>
            <a:pPr>
              <a:spcBef>
                <a:spcPts val="600"/>
              </a:spcBef>
            </a:pPr>
            <a:r>
              <a:rPr lang="nb-NO" sz="9600" dirty="0"/>
              <a:t>Hossein : </a:t>
            </a:r>
            <a:r>
              <a:rPr lang="en-US" sz="9600" b="0" dirty="0"/>
              <a:t>Data Acquisition &amp; Cleaning Lead</a:t>
            </a:r>
            <a:endParaRPr lang="nb-NO" sz="9600" b="0" dirty="0"/>
          </a:p>
          <a:p>
            <a:pPr>
              <a:spcBef>
                <a:spcPts val="600"/>
              </a:spcBef>
            </a:pPr>
            <a:r>
              <a:rPr lang="nb-NO" sz="9600" dirty="0"/>
              <a:t>Aman : </a:t>
            </a:r>
            <a:r>
              <a:rPr lang="en-US" sz="9600" b="0" dirty="0"/>
              <a:t>Exploratory Data Analysis &amp; Feature Engineering Lead</a:t>
            </a:r>
            <a:r>
              <a:rPr lang="nb-NO" sz="9600" b="0" dirty="0"/>
              <a:t> </a:t>
            </a:r>
          </a:p>
          <a:p>
            <a:pPr>
              <a:spcBef>
                <a:spcPts val="600"/>
              </a:spcBef>
            </a:pPr>
            <a:r>
              <a:rPr lang="nb-NO" sz="9600" dirty="0"/>
              <a:t>Antonio: </a:t>
            </a:r>
            <a:r>
              <a:rPr lang="en-US" sz="9600" b="0" dirty="0"/>
              <a:t>Model Development &amp; Optimization Lead</a:t>
            </a:r>
            <a:endParaRPr lang="nb-NO" sz="9600" b="0" dirty="0"/>
          </a:p>
          <a:p>
            <a:pPr>
              <a:spcBef>
                <a:spcPts val="600"/>
              </a:spcBef>
            </a:pPr>
            <a:r>
              <a:rPr lang="nb-NO" sz="9600" dirty="0"/>
              <a:t>Janice: </a:t>
            </a:r>
            <a:r>
              <a:rPr lang="en-US" sz="9600" b="0" dirty="0"/>
              <a:t>Evaluation, Visualization &amp; Reporting Lead </a:t>
            </a:r>
            <a:endParaRPr lang="nb-NO" sz="9600" b="0" dirty="0"/>
          </a:p>
          <a:p>
            <a:pPr marL="0" indent="0" algn="ctr">
              <a:spcBef>
                <a:spcPts val="600"/>
              </a:spcBef>
              <a:buNone/>
            </a:pPr>
            <a:endParaRPr lang="en-US" sz="2600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70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42AA0A-03B6-4056-9366-124148D0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1" y="0"/>
            <a:ext cx="10515600" cy="729625"/>
          </a:xfrm>
        </p:spPr>
        <p:txBody>
          <a:bodyPr/>
          <a:lstStyle/>
          <a:p>
            <a:r>
              <a:rPr lang="en-US" dirty="0"/>
              <a:t>The Problem &amp; Business Context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C411B-1842-C1D1-EB98-19C789D7EA2D}"/>
              </a:ext>
            </a:extLst>
          </p:cNvPr>
          <p:cNvSpPr txBox="1"/>
          <p:nvPr/>
        </p:nvSpPr>
        <p:spPr>
          <a:xfrm>
            <a:off x="628403" y="898933"/>
            <a:ext cx="112508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TTC experiences recurring streetcar delays impacting reliability and passenger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Operations are reactive with limited insight into which incident types cause disruptions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Project goal: </a:t>
            </a:r>
            <a:r>
              <a:rPr lang="en-US" sz="1600" b="1" dirty="0"/>
              <a:t>Predict and classify incident types</a:t>
            </a:r>
            <a:r>
              <a:rPr lang="en-US" sz="1600" dirty="0"/>
              <a:t> using historical data (2014–2025)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Key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Inefficient deployment of crews and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Limited visibility into high-risk routes, times, and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Recurring delays and customer dissatisfaction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Business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Better scheduling and targeted maintenance based on predicted incident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Data-driven decisions on where to invest (infrastructure, track, signals)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Reduced downtime and improved on-time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Expected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10–15% faster</a:t>
            </a:r>
            <a:r>
              <a:rPr lang="en-US" sz="1600" dirty="0"/>
              <a:t> incident response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Improved resource utilization and service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Clearer insights for planning, leadership, and passenger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35515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22"/>
    </mc:Choice>
    <mc:Fallback xmlns="">
      <p:transition spd="slow" advTm="370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9EA6-0F7F-08C3-5E53-54356723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763" y="-31889"/>
            <a:ext cx="7743825" cy="729625"/>
          </a:xfrm>
        </p:spPr>
        <p:txBody>
          <a:bodyPr/>
          <a:lstStyle/>
          <a:p>
            <a:r>
              <a:rPr lang="en-US" dirty="0"/>
              <a:t>Data &amp; Methodology Overview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7F5E7-B79E-3655-60C1-EDA2AF94FF99}"/>
              </a:ext>
            </a:extLst>
          </p:cNvPr>
          <p:cNvSpPr txBox="1"/>
          <p:nvPr/>
        </p:nvSpPr>
        <p:spPr>
          <a:xfrm>
            <a:off x="616528" y="1075315"/>
            <a:ext cx="104077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Dataset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2014–2024 TTC streetcar delay data (11 years, all routes)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93,274 incident records consolidated from 12 CSV/Excel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Key features: time (date/hour/day), route/vehicle/location, incident type (target), delay duration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Data Quality &amp; Prep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Standardized columns across years; merged all files into one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Missing values imputed (numeric → 0, categorical → “Unknown”)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Final dataset: 93k rows × 11 features, sorted chronologically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Risks &amp;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Class imbalance: Mechanical/general delays dominate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Missing data assumptions may affect temporal/vehicle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Inconsistent data collection over 11 years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Methodology (High-Level)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Phase 1 – Consolidation: Merge files, clean data, assess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Phase 2 – EDA: Identify top incident types, rush-hour peaks, winter seasonality, high-incident routes (501/504)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Phase 3 – Feature Engineering: Add time-based, delay-severity, and encoded categorical features → 22 total features</a:t>
            </a:r>
          </a:p>
        </p:txBody>
      </p:sp>
    </p:spTree>
    <p:extLst>
      <p:ext uri="{BB962C8B-B14F-4D97-AF65-F5344CB8AC3E}">
        <p14:creationId xmlns:p14="http://schemas.microsoft.com/office/powerpoint/2010/main" val="85116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DF417BE-60D6-9D2E-8222-B26CB7534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694" y="925513"/>
            <a:ext cx="5904953" cy="272294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0" dirty="0"/>
              <a:t>We tested three classification algorithms: Logistic Regression as our baseline, Random Forest, and Gradient Boosting.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200" b="0" dirty="0"/>
              <a:t>We also performed hyperparameter tuning using </a:t>
            </a:r>
            <a:r>
              <a:rPr lang="en-CA" sz="2200" b="0" dirty="0" err="1"/>
              <a:t>GridSearchCV</a:t>
            </a:r>
            <a:r>
              <a:rPr lang="en-CA" sz="2200" b="0" dirty="0"/>
              <a:t> and Randomized </a:t>
            </a:r>
            <a:r>
              <a:rPr lang="en-CA" sz="2200" b="0" dirty="0" err="1"/>
              <a:t>SearchCV</a:t>
            </a:r>
            <a:r>
              <a:rPr lang="en-CA" sz="2200" b="0" dirty="0"/>
              <a:t>, which improved stability and F1-scores.</a:t>
            </a:r>
            <a:br>
              <a:rPr lang="en-CA" dirty="0"/>
            </a:br>
            <a:endParaRPr lang="en-US" sz="2200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dirty="0"/>
              <a:t>Gradient Boosting achieved the best performance with 37.9% weighted F1-score, outperforming the other approaches.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85A763-A2B9-9C18-920E-EFFCE496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25513"/>
            <a:ext cx="5231346" cy="44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5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B3D1-5A2B-7CE1-015D-586995016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81CE-CC9E-621C-5BF2-9389D91F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Key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A6ED5-73D5-027C-299F-C20749AF2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236133"/>
            <a:ext cx="3776009" cy="50079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326C0-AB6B-4550-10B7-4C767678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6" y="927913"/>
            <a:ext cx="4528813" cy="2687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B2385E-2BAC-951A-F281-753C5A2BFC9F}"/>
              </a:ext>
            </a:extLst>
          </p:cNvPr>
          <p:cNvSpPr txBox="1"/>
          <p:nvPr/>
        </p:nvSpPr>
        <p:spPr>
          <a:xfrm>
            <a:off x="4897647" y="1236133"/>
            <a:ext cx="68774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</a:rPr>
              <a:t>This bar chart ranks incidents types,  Mechanical incidents dominate with 40,000+ cases, while other types like Investigation, Held By, and Late Leaving Garage occur far less frequently, showing clear class imbalance.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12862-B631-9914-A2CF-8DEDD18EFA72}"/>
              </a:ext>
            </a:extLst>
          </p:cNvPr>
          <p:cNvSpPr txBox="1"/>
          <p:nvPr/>
        </p:nvSpPr>
        <p:spPr>
          <a:xfrm>
            <a:off x="5004111" y="4273760"/>
            <a:ext cx="6258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</a:rPr>
              <a:t>In the bottom left chart showing hourly distribution, delay incidents peak sharply during the morning (5–7 AM) and evening (2–4 PM) rush hours, confirming strong time-of-day effects that are critical for predictive modeling.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A7AD20-35CC-2D0F-DD66-9E7BCFD99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1" y="3615745"/>
            <a:ext cx="4364159" cy="281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7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D706-F31F-6ECB-589F-AE1602E0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E1FE-9B67-8581-6369-C73CD7DC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Key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AB26B-B47F-36DE-963F-7E1AE5645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236133"/>
            <a:ext cx="4251385" cy="50079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3509D82-FF29-B101-D930-0A0AEF8C7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40135"/>
            <a:ext cx="5050536" cy="2556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0BD34B-8EE9-946C-F719-6386EF1F09D1}"/>
              </a:ext>
            </a:extLst>
          </p:cNvPr>
          <p:cNvSpPr txBox="1"/>
          <p:nvPr/>
        </p:nvSpPr>
        <p:spPr>
          <a:xfrm>
            <a:off x="6473952" y="1236133"/>
            <a:ext cx="57180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Incidents cluster by route and hour, with major routes like 501, 504, and 506 showing the highest activity.</a:t>
            </a:r>
          </a:p>
          <a:p>
            <a:br>
              <a:rPr lang="en-US" dirty="0"/>
            </a:br>
            <a:r>
              <a:rPr lang="en-US" dirty="0"/>
              <a:t>• Clear time-route patterns emerge, helping identify when and where targeted interventions are needed.</a:t>
            </a:r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0C837-4C48-6932-9321-1BCA346CC673}"/>
              </a:ext>
            </a:extLst>
          </p:cNvPr>
          <p:cNvSpPr txBox="1"/>
          <p:nvPr/>
        </p:nvSpPr>
        <p:spPr>
          <a:xfrm>
            <a:off x="6473952" y="4421539"/>
            <a:ext cx="5501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</a:rPr>
              <a:t>This chart comparing days of the week, weekdays show significantly higher incident counts than weekends, indicating heavier operational load and stronger patterns during the workweek.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67B6D-4CC2-9F3C-55D2-5561EE4EE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41" y="639104"/>
            <a:ext cx="6039160" cy="357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2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DF53-7763-DB70-73B1-5F499735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5E8D8-6932-3D72-1455-A2094DF11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57416" y="1236133"/>
            <a:ext cx="4846320" cy="36467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0" dirty="0"/>
              <a:t>Feature importance analysis reveals what drives incident severity predictions.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dirty="0"/>
              <a:t>Hour of day dominates at 0.35 importance - more than three times the next feature. Route 501 and Route 503 follow at 0.09 and 0.075 importance respectively.</a:t>
            </a:r>
            <a:endParaRPr lang="en-CA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48F43-799F-3A79-037B-19A405FA7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55" y="1120668"/>
            <a:ext cx="6153466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7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761C-851E-1F9E-B5EC-287372DB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58DE3-0F05-4CD7-45D5-14FCA2E56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/>
              <a:t>Infrastructure Investment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Prioritize Routes 501 and 504 for targeted infrastructure assessment and upgrades.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Include maintenance facilities in capital planning—not just passenger-service locations.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Operational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Strengthen vehicle maintenance and pre-service inspection protocols to reduce mechanical failures.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Allocate staff and resources during high-incident periods (5–7 AM and 2–4 PM).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250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A26E-DA69-1C37-877E-B3E4133C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9255-258E-D44D-7E52-C1ADA541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17879-4DE5-C126-673F-CC1AE0008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491" y="786498"/>
            <a:ext cx="10515600" cy="500791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Model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Moderate accuracy: Weighted F1 = 0.379, leaving substantial room for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Poor rush-hour performance: Especially weak on Severe incidents (F1 = 0.02 during rush hours).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Class imbalance persists: Minority incident types remain difficult to predict reliably.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Data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Historical-only data: Model may fail on new or shifting operational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Missing external factors: Weather, special events, construction, and traffic conditions not included.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Limited geographic granularity: Station/route data lacks detailed intersection- or segment-level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Temporal scope: Dataset may not reflect the most recent procedural or infrastructure changes.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Operational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Not yet real-time: Current version is a proof-of-concept; integration required for live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Human oversight needed: Intended to support—</a:t>
            </a:r>
            <a:r>
              <a:rPr lang="en-US" sz="1800" b="0" i="1" dirty="0"/>
              <a:t>not replace</a:t>
            </a:r>
            <a:r>
              <a:rPr lang="en-US" sz="1800" b="0" dirty="0"/>
              <a:t>—operations staff judgment.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/>
              <a:t>Model drift risk: Requires periodic monitoring and retraining as transit conditions evolve.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96540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63B41-307A-2681-3E4A-B5C192C02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2" descr="Canada: École Polytechnique de Montréal | Student">
            <a:extLst>
              <a:ext uri="{FF2B5EF4-FFF2-40B4-BE49-F238E27FC236}">
                <a16:creationId xmlns:a16="http://schemas.microsoft.com/office/drawing/2014/main" id="{5C2467FA-B2DB-A8FC-C6D6-7B256A4D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2" y="886622"/>
            <a:ext cx="11299455" cy="508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DDD1EB-E13C-8EEB-CBDA-A4E6CCDCD562}"/>
              </a:ext>
            </a:extLst>
          </p:cNvPr>
          <p:cNvSpPr txBox="1">
            <a:spLocks/>
          </p:cNvSpPr>
          <p:nvPr/>
        </p:nvSpPr>
        <p:spPr>
          <a:xfrm>
            <a:off x="1869439" y="1026285"/>
            <a:ext cx="5102862" cy="994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01922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1_Master">
  <a:themeElements>
    <a:clrScheme name="Custom 4">
      <a:dk1>
        <a:srgbClr val="000000"/>
      </a:dk1>
      <a:lt1>
        <a:srgbClr val="FFFFFF"/>
      </a:lt1>
      <a:dk2>
        <a:srgbClr val="134256"/>
      </a:dk2>
      <a:lt2>
        <a:srgbClr val="197084"/>
      </a:lt2>
      <a:accent1>
        <a:srgbClr val="4EB749"/>
      </a:accent1>
      <a:accent2>
        <a:srgbClr val="58AECA"/>
      </a:accent2>
      <a:accent3>
        <a:srgbClr val="8BB44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26230</TotalTime>
  <Words>808</Words>
  <Application>Microsoft Office PowerPoint</Application>
  <PresentationFormat>Widescreen</PresentationFormat>
  <Paragraphs>85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Franklin Gothic Book</vt:lpstr>
      <vt:lpstr>Franklin Gothic Medium Cond</vt:lpstr>
      <vt:lpstr>Aptos Display</vt:lpstr>
      <vt:lpstr>Calibri</vt:lpstr>
      <vt:lpstr>Wingdings</vt:lpstr>
      <vt:lpstr>Arial</vt:lpstr>
      <vt:lpstr>Aptos</vt:lpstr>
      <vt:lpstr>Courier New</vt:lpstr>
      <vt:lpstr>Times New Roman</vt:lpstr>
      <vt:lpstr>1_Master</vt:lpstr>
      <vt:lpstr>Custom Design</vt:lpstr>
      <vt:lpstr>PowerPoint Presentation</vt:lpstr>
      <vt:lpstr>The Problem &amp; Business Context</vt:lpstr>
      <vt:lpstr>Data &amp; Methodology Overview</vt:lpstr>
      <vt:lpstr>PowerPoint Presentation</vt:lpstr>
      <vt:lpstr>Results - Key Insights</vt:lpstr>
      <vt:lpstr>Results - Key Insights</vt:lpstr>
      <vt:lpstr>PowerPoint Presentation</vt:lpstr>
      <vt:lpstr>Recommendations</vt:lpstr>
      <vt:lpstr> Limitations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sleistner</dc:creator>
  <cp:lastModifiedBy>Aman Kaushik</cp:lastModifiedBy>
  <cp:revision>772</cp:revision>
  <cp:lastPrinted>2015-10-12T17:01:40Z</cp:lastPrinted>
  <dcterms:created xsi:type="dcterms:W3CDTF">2011-11-17T21:50:28Z</dcterms:created>
  <dcterms:modified xsi:type="dcterms:W3CDTF">2025-11-15T15:23:47Z</dcterms:modified>
</cp:coreProperties>
</file>